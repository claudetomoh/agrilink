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12D1D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731520" cy="6858000"/>
          </a:xfrm>
          <a:prstGeom prst="rect">
            <a:avLst/>
          </a:prstGeom>
          <a:solidFill>
            <a:srgbClr val="01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5852160" cy="402336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C641"/>
                </a:solidFill>
                <a:latin typeface="Inter"/>
              </a:rPr>
              <a:t>CS 415 Software Engineering  ·  Final Presentation  · 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6675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Manrope"/>
              </a:rPr>
              <a:t>AgriLink
Ghana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AA"/>
                </a:solidFill>
                <a:latin typeface="Inter"/>
              </a:rPr>
              <a:t>Ghana's Agricultural Marketplace — Live &amp;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1463040" cy="40233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CC"/>
                </a:solidFill>
                <a:latin typeface="Inter"/>
              </a:rPr>
              <a:t>✅ All 3 Sprints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4832" y="4572000"/>
            <a:ext cx="1463040" cy="40233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2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CC"/>
                </a:solidFill>
                <a:latin typeface="Inter"/>
              </a:rPr>
              <a:t>🌾 4 User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21024" y="4572000"/>
            <a:ext cx="1463040" cy="40233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CC"/>
                </a:solidFill>
                <a:latin typeface="Inter"/>
              </a:rPr>
              <a:t>🏆 34 Stories Shipped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7216" y="4572000"/>
            <a:ext cx="1463040" cy="402336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CC"/>
                </a:solidFill>
                <a:latin typeface="Inter"/>
              </a:rPr>
              <a:t>🌐 Live Deployed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Inter"/>
              </a:rPr>
              <a:t>Tomoh Ikfingeh  ·  claudetomoh/agrilink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12D1D"/>
                </a:solidFill>
                <a:latin typeface="Manrope"/>
              </a:rPr>
              <a:t>Final 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77440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Platform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1528" y="1554480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377440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Sprint 3 Jira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0136" y="1554480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4728" y="16916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4728" y="2377440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Matching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01568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387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2245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1528" y="3401568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5387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245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Test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3401568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353872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4224528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Engineering 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48656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38581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607161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Live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81528" y="5248656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538581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607161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Velocity &amp; Retrospective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0136" y="5248656"/>
            <a:ext cx="2377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8" y="5385816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D8C5E"/>
                </a:solidFill>
                <a:latin typeface="Manrope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8" y="6071616"/>
            <a:ext cx="20482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Manrope"/>
              </a:rPr>
              <a:t>Roadmap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12D1D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PLATFORM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nrope"/>
              </a:rPr>
              <a:t>AgriLink Ghana —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56232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User Stories Shipped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691640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7" y="1691640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856232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27706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Story Points Delivered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3502152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7614" y="3502152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4" y="3666744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4" y="458114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Tests Passing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66744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8114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Produce Listings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5312664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7" y="5312664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7" y="5477256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63916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Registered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7614" y="5312664"/>
            <a:ext cx="3749039" cy="1645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57614" y="5312664"/>
            <a:ext cx="3749039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4" y="5477256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4" y="63916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AA"/>
                </a:solidFill>
                <a:latin typeface="Inter"/>
              </a:rPr>
              <a:t>Orders Placed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11274552" cy="105156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Demo Accounts  —  Live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53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DDCC"/>
                </a:solidFill>
                <a:latin typeface="Courier New"/>
              </a:rPr>
              <a:t>🌾 Farmer: kofi.boateng@agrilink.gh / Pass@1234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27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Inter"/>
              </a:rPr>
              <a:t>Kofi Boateng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6053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DDCC"/>
                </a:solidFill>
                <a:latin typeface="Courier New"/>
              </a:rPr>
              <a:t>🛒 Buyer: kwame.mensah@agrilink.gh / Pass@1234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6327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Inter"/>
              </a:rPr>
              <a:t>Kwame Mensah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6053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DDCC"/>
                </a:solidFill>
                <a:latin typeface="Courier New"/>
              </a:rPr>
              <a:t>🚛 Transport: kojo.logistics@agrilink.gh / Pass@1234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6327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Inter"/>
              </a:rPr>
              <a:t>Kojo 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6053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CDDCC"/>
                </a:solidFill>
                <a:latin typeface="Courier New"/>
              </a:rPr>
              <a:t>🛡️ Admin: admin@agrilink.gh / Admin@1234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6327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Inter"/>
              </a:rPr>
              <a:t>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JIRA SPRINT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Sprint 3 — All Items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8046720" cy="3840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  <a:latin typeface="Manrope"/>
              </a:rPr>
              <a:t>Done ✓  (16)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965960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965960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665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2996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Auth System (Register/Login)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2084832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" y="208483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87168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487168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551176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Farmer Produce Listings CRUD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1408" y="2606040"/>
            <a:ext cx="768096" cy="21945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1408" y="2606040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66534"/>
                </a:solidFill>
                <a:latin typeface="Inter"/>
              </a:rPr>
              <a:t>Farmer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008376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008376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072384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Buyer Marketplace + Filters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1408" y="3127248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3127248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529584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529584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0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5935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Price Bidding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1408" y="3648456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1408" y="3648456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050792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050792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5137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114800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Real-time Notification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21408" y="4169664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21408" y="4169664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4572000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4572000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463600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Transport Job 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1408" y="4690872"/>
            <a:ext cx="768096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21408" y="469087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92400E"/>
                </a:solidFill>
                <a:latin typeface="Inter"/>
              </a:rPr>
              <a:t>Transport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72384" y="1965960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72384" y="1965960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45536" y="20665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92424" y="202996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Order Tracking (Full Lifecycle)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9744" y="2084832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9744" y="208483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72384" y="2487168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72384" y="2487168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45536" y="2587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92424" y="2551176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Admin User Management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9744" y="2606040"/>
            <a:ext cx="768096" cy="219456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2606040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9D174D"/>
                </a:solidFill>
                <a:latin typeface="Inter"/>
              </a:rPr>
              <a:t>Admin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72384" y="3008376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72384" y="3008376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45536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92424" y="3072384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Review &amp; Rating System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9744" y="3127248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9744" y="3127248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72384" y="3529584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72384" y="3529584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45536" y="3630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92424" y="35935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AI Demand Matching Refinement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9744" y="3648456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09744" y="3648456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72384" y="4050792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72384" y="4050792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45536" y="415137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92424" y="4114800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Admin Analytics Dashboard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09744" y="4169664"/>
            <a:ext cx="768096" cy="219456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09744" y="4169664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9D174D"/>
                </a:solidFill>
                <a:latin typeface="Inter"/>
              </a:rPr>
              <a:t>Admin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72384" y="4572000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72384" y="4572000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45536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92424" y="463600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Delivery Timeline View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09744" y="4690872"/>
            <a:ext cx="768096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09744" y="469087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92400E"/>
                </a:solidFill>
                <a:latin typeface="Inter"/>
              </a:rPr>
              <a:t>Transport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60720" y="1965960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760720" y="1965960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33872" y="20665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60" y="2029968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Smart Matching Score UI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80" y="2084832"/>
            <a:ext cx="768096" cy="21945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80" y="208483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E40AF"/>
                </a:solidFill>
                <a:latin typeface="Inter"/>
              </a:rPr>
              <a:t>Buyer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60720" y="2487168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60720" y="2487168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33872" y="25877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2551176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Security Hardening (OWASP)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98080" y="2606040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98080" y="2606040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60720" y="3008376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760720" y="3008376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33872" y="3108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80760" y="3072384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Full Test Suite — 43 Tests Pass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98080" y="3127248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98080" y="3127248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60720" y="3529584"/>
            <a:ext cx="25786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760720" y="3529584"/>
            <a:ext cx="2578608" cy="475488"/>
          </a:xfrm>
          <a:prstGeom prst="rect">
            <a:avLst/>
          </a:prstGeom>
          <a:noFill/>
          <a:ln w="63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33872" y="36301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534"/>
                </a:solidFill>
                <a:latin typeface="Inter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0" y="35935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12D1D"/>
                </a:solidFill>
                <a:latin typeface="Manrope"/>
              </a:rPr>
              <a:t>Engineering Documentation Suite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98080" y="3648456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0" y="3648456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95360" y="1508760"/>
            <a:ext cx="3200400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95360" y="15087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2400E"/>
                </a:solidFill>
                <a:latin typeface="Manrope"/>
              </a:rPr>
              <a:t>Sprint 4 Backlog  (7)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196596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95360" y="1965960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705088" y="20299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SMS Notification Gateway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972800" y="2084832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972800" y="208483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95360" y="248716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595360" y="2487168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05088" y="2551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Ghana Card OCR Verification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972800" y="2606040"/>
            <a:ext cx="768096" cy="21945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972800" y="2606040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166534"/>
                </a:solidFill>
                <a:latin typeface="Inter"/>
              </a:rPr>
              <a:t>Farmer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95360" y="3008376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595360" y="3008376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05088" y="30723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Mobile Money (MoMo) Payments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972800" y="3127248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972800" y="3127248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595360" y="352958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595360" y="3529584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05088" y="3593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PWA Mobile Wrapper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972800" y="3648456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972800" y="3648456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595360" y="4050792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595360" y="4050792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705088" y="4114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Multi-language: Twi / Ga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972800" y="4169664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972800" y="4169664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595360" y="4572000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595360" y="4572000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705088" y="46360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Dispute Resolution Workflow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972800" y="4690872"/>
            <a:ext cx="768096" cy="219456"/>
          </a:xfrm>
          <a:prstGeom prst="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72800" y="4690872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9D174D"/>
                </a:solidFill>
                <a:latin typeface="Inter"/>
              </a:rPr>
              <a:t>Admin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595360" y="509320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595360" y="5093208"/>
            <a:ext cx="3200400" cy="475488"/>
          </a:xfrm>
          <a:prstGeom prst="rect">
            <a:avLst/>
          </a:prstGeom>
          <a:noFill/>
          <a:ln w="635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705088" y="5157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A5568"/>
                </a:solidFill>
                <a:latin typeface="Manrope"/>
              </a:rPr>
              <a:t>API Layer for Integrations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972800" y="5212080"/>
            <a:ext cx="768096" cy="21945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972800" y="5212080"/>
            <a:ext cx="768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5B21B6"/>
                </a:solidFill>
                <a:latin typeface="Inter"/>
              </a:rPr>
              <a:t>Infra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48640" y="63367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C641"/>
                </a:solidFill>
                <a:latin typeface="Inter"/>
              </a:rPr>
              <a:t>Sprint Velocity:   Sprint 1: 22 pts   ·   Sprint 2: 27 pts   ·   Sprint 3: 34 pts   →   Total: 83 story points delivered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12D1D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AI SUPPLY–DEMAND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nrope"/>
              </a:rPr>
              <a:t>Smart Score-Based
Matching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11480"/>
            <a:ext cx="54864" cy="118872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411480"/>
            <a:ext cx="5577840" cy="11887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641"/>
                </a:solidFill>
                <a:latin typeface="Inter"/>
              </a:rPr>
              <a:t>+40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5029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Same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88696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BBAA"/>
                </a:solidFill>
                <a:latin typeface="Inter"/>
              </a:rPr>
              <a:t>Produce and buyer in same Ghana 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4864" cy="118872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577840" cy="11887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641"/>
                </a:solidFill>
                <a:latin typeface="Inter"/>
              </a:rPr>
              <a:t>+30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8745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Category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5856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BBAA"/>
                </a:solidFill>
                <a:latin typeface="Inter"/>
              </a:rPr>
              <a:t>Produce category matches buyer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54864" cy="118872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154680"/>
            <a:ext cx="5577840" cy="11887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641"/>
                </a:solidFill>
                <a:latin typeface="Inter"/>
              </a:rPr>
              <a:t>+20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461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Quantity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3016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BBAA"/>
                </a:solidFill>
                <a:latin typeface="Inter"/>
              </a:rPr>
              <a:t>Available qty ≥ buyer requested amount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54864" cy="118872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526280"/>
            <a:ext cx="5577840" cy="11887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C641"/>
                </a:solidFill>
                <a:latin typeface="Inter"/>
              </a:rPr>
              <a:t>+10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6177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"/>
              </a:rPr>
              <a:t>Budget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001768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BBAA"/>
                </a:solidFill>
                <a:latin typeface="Inter"/>
              </a:rPr>
              <a:t>Price per unit ≤ buyer budget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06440"/>
            <a:ext cx="5760720" cy="9601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  <a:latin typeface="Courier New"/>
              </a:rPr>
              <a:t>$score = 0;
if ($region === $buyerRegion)   { $score += 40; }
if ($category === $requested)     { $score += 30; }
if ($qty &gt;= $buyerQty)            { $score += 20; }
if ($price &lt;= $buyerBudget)       { $score += 10;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Inter"/>
              </a:rPr>
              <a:t>Max score: 100 pts  ·  Displayed as match % on each listing card  ·  Top-scored results shown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SYSTEM ARCHITECTURE — MVC LAYERS</a:t>
            </a:r>
          </a:p>
        </p:txBody>
      </p:sp>
      <p:pic>
        <p:nvPicPr>
          <p:cNvPr id="3" name="Picture 2" descr="agrilink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"/>
            <a:ext cx="11640312" cy="74074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Test Results — 43 / 43 Passing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3474720" cy="23774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166534"/>
                </a:solidFill>
                <a:latin typeface="Manrope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6534"/>
                </a:solidFill>
                <a:latin typeface="Inter"/>
              </a:rPr>
              <a:t>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Inter"/>
              </a:rPr>
              <a:t>0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3474720" cy="5486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534"/>
                </a:solidFill>
                <a:latin typeface="Inter"/>
              </a:rPr>
              <a:t>100% pass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356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Authentication  (8)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830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874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Login/Logout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317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CSRF token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889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Role-based redirects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246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bcrypt verify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2061" y="14173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501" y="14356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Farmer Module  (9)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2061" y="17830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1789" y="1874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Listing CRUD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789" y="23317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Image upload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789" y="27889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Order accept/reject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1789" y="3246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Profile 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17882" y="14173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09322" y="14356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Buyer Module  (8)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17882" y="17830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27610" y="1874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Marketplace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27610" y="23317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Order 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27610" y="27889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Bid counter-offer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27610" y="3246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Review submission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9319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9502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Transport Module  (6)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2976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4389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Job board listing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8463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Delivery status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5303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Timeline 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2061" y="39319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3501" y="39502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Analytics &amp; Admin  (6)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2061" y="42976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1789" y="4389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Dashboard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1789" y="48463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User toggle 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1789" y="5303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Order/delivery views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17882" y="3931920"/>
            <a:ext cx="3987241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09322" y="3950208"/>
            <a:ext cx="380436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nrope"/>
              </a:rPr>
              <a:t>Security (OWASP)  (6)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17882" y="4297680"/>
            <a:ext cx="3987241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427610" y="43891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SQL injection (PDO)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27610" y="48463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XSS output escaping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427610" y="53035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Auth guards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27610" y="5760720"/>
            <a:ext cx="376778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Inter"/>
              </a:rPr>
              <a:t>✓  File upload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PROJECT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Engineering Documentation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554480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Project overview, setup guide, architecture map, credential table, all 7 engineering docs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03704"/>
            <a:ext cx="10972800" cy="658368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50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PROJECT_PROPOSAL.md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49424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Problem statement, objectives &amp; success metrics, tech stack, 7-week timeline, team Scrum roles (Week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98648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449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SPRINT.md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944368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3-sprint log — Jira board state, daily standups, velocity chart (22→27→34 pts), retrospectives, DoD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93592"/>
            <a:ext cx="10972800" cy="658368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39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393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FINAL_REPORT.md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639312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11-section report: overview, methodology, architecture, OWASP table, defect log, 43-test results, learnings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88536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4348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3425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schema.sql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334256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7-table MySQL schema with FK constraints, ENUMs, indexes — production-ready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10972800" cy="658368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297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seed.sql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029200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Ghana-context demo data: Ghanaian names, produce, 16 regions, test accounts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78424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8247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C1A"/>
                </a:solidFill>
                <a:latin typeface="Manrope"/>
              </a:rPr>
              <a:t>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241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12D1D"/>
                </a:solidFill>
                <a:latin typeface="Courier New"/>
              </a:rPr>
              <a:t>DESIGN.md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5724144"/>
            <a:ext cx="7680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Design system — Verdant Archive palette, typography, component library, spacing tokens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D2018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LIVE APPLICATION — PORTAL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nrope"/>
              </a:rPr>
              <a:t>Homepage · Buyer Marketplace · AI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4168"/>
            <a:ext cx="3749039" cy="5010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AgriLink Homepage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7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344168"/>
            <a:ext cx="3749039" cy="5010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7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Buyer Marketplace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4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4" y="1344168"/>
            <a:ext cx="3749039" cy="5010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7614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AI Supply-Demand Matching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D2018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LIVE APPLICATION — PORTAL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nrope"/>
              </a:rPr>
              <a:t>Farmer Dashboard · Admin Dashboard · Transport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4168"/>
            <a:ext cx="3749039" cy="5010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Farmer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7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7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344168"/>
            <a:ext cx="3749039" cy="5010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7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Admin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7614" y="1051560"/>
            <a:ext cx="3749039" cy="292608"/>
          </a:xfrm>
          <a:prstGeom prst="rect">
            <a:avLst/>
          </a:prstGeom>
          <a:solidFill>
            <a:srgbClr val="20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4" y="10515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77"/>
                </a:solidFill>
                <a:latin typeface="Inter"/>
              </a:rPr>
              <a:t>● ● ●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4" y="1344168"/>
            <a:ext cx="3749039" cy="5010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7614" y="64465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DDCC"/>
                </a:solidFill>
                <a:latin typeface="Inter"/>
              </a:rPr>
              <a:t>Transport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AGILE PROCESS —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Sprint Velocity &amp; 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3716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739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Sprint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737360"/>
            <a:ext cx="2414016" cy="45720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75564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Inter"/>
              </a:rPr>
              <a:t>22 story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3716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62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Sprint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926080"/>
            <a:ext cx="2962656" cy="45720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944368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Inter"/>
              </a:rPr>
              <a:t>27 story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371600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513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Sprint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4114800"/>
            <a:ext cx="3730752" cy="457200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41330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2D1D"/>
                </a:solidFill>
                <a:latin typeface="Inter"/>
              </a:rPr>
              <a:t>34 story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66360"/>
            <a:ext cx="4572000" cy="54864"/>
          </a:xfrm>
          <a:prstGeom prst="rect">
            <a:avLst/>
          </a:prstGeom>
          <a:solidFill>
            <a:srgbClr val="FFC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85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Inter"/>
              </a:rPr>
              <a:t>Velocity trend: +23% Sprint 1→2, +26% Sprint 2→3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3566160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4538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Sprint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7830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874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✅ Went well: Auth, CSRF, listings — clean separation of concerns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063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🔧 Improved: PHP lint gate + deploy script replaced manual FTP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📌 Action: Define DoD before sprint start; review design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5792" y="1417320"/>
            <a:ext cx="3566160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52" y="14538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Sprint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65792" y="17830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1874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✅ Went well: Order lifecycle, bidding, transport job 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3063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🔧 Improved: CSS contrast audit fixed 3 accessibility failures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📌 Action: Add unit tests from Sprint 3 start — not at the 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96544" y="1417320"/>
            <a:ext cx="3566160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33704" y="145389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Sprint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496544" y="17830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633704" y="18745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✅ Went well: Matching engine, analytics, full 43-test suite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33704" y="3063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🔧 Improved: Documentation written alongside code, not 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33704" y="42519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Inter"/>
              </a:rPr>
              <a:t>📌 Carry forward: SMS gateway + OCR to Sprint 4 with spec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SECURITY — OWASP TOP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0972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45336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A01 Broken 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545336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Auth::requireRole() guard on every controller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30552"/>
            <a:ext cx="10972800" cy="585216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30552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67128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A02 Cryptographic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67128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password_hash(BCRYPT) — no plain text ever stored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52344"/>
            <a:ext cx="10972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88920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A03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PDO prepared statements on all DB 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74136"/>
            <a:ext cx="10972800" cy="585216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74136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410712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A04 Insecure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10712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Dedicated Auth, Session, CSRF token classes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95928"/>
            <a:ext cx="10972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95928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032504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A05 Security Misconfiguration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32504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DB credentials in config.php excluded from version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10972800" cy="585216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617720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654296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A07 Auth Failures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54296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Session::verifyCsrf() on every POST; session_regenerate_id()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39512"/>
            <a:ext cx="109728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39512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276088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A08 Integrity Failures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76088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File upload: MIME + ext + size checks; store outside webroot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61304"/>
            <a:ext cx="10972800" cy="585216"/>
          </a:xfrm>
          <a:prstGeom prst="rect">
            <a:avLst/>
          </a:prstGeom>
          <a:solidFill>
            <a:srgbClr val="EC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61304"/>
            <a:ext cx="54864" cy="58521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897880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12D1D"/>
                </a:solidFill>
                <a:latin typeface="Inter"/>
              </a:rPr>
              <a:t>A09 Logging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897880"/>
            <a:ext cx="6949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Inter"/>
              </a:rPr>
              <a:t>PHP error_log; future: audit log table for admin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12D1D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0"/>
            <a:ext cx="50566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0"/>
            <a:ext cx="640080" cy="6858000"/>
          </a:xfrm>
          <a:prstGeom prst="rect">
            <a:avLst/>
          </a:prstGeom>
          <a:solidFill>
            <a:srgbClr val="012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641"/>
                </a:solidFill>
                <a:latin typeface="Inter"/>
              </a:rPr>
              <a:t>LIVE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nrope"/>
              </a:rPr>
              <a:t>Application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943600" cy="50292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641"/>
                </a:solidFill>
                <a:latin typeface="Courier New"/>
              </a:rPr>
              <a:t>🌐  169.239.251.102:280/~tomoh.ikfingeh/agrilink/public/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743200" cy="13258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🌾 Farmer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072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C641"/>
                </a:solidFill>
                <a:latin typeface="Courier New"/>
              </a:rPr>
              <a:t>kofi.boateng@agrilink.gh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Courier New"/>
              </a:rPr>
              <a:t>pwd: Pass@1234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331720"/>
            <a:ext cx="2743200" cy="13258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🛒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0720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C641"/>
                </a:solidFill>
                <a:latin typeface="Courier New"/>
              </a:rPr>
              <a:t>kwame.mensah@agrilink.gh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36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Courier New"/>
              </a:rPr>
              <a:t>pwd: Pass@1234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2743200" cy="13258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🚛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159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C641"/>
                </a:solidFill>
                <a:latin typeface="Courier New"/>
              </a:rPr>
              <a:t>kojo.logistics@agrilink.gh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45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Courier New"/>
              </a:rPr>
              <a:t>pwd: Pass@1234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840480"/>
            <a:ext cx="2743200" cy="13258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9319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🛡️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159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C641"/>
                </a:solidFill>
                <a:latin typeface="Courier New"/>
              </a:rPr>
              <a:t>admin@agrilink.gh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6451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Courier New"/>
              </a:rPr>
              <a:t>pwd: Admin@1234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5943600" cy="438912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C641"/>
                </a:solidFill>
                <a:latin typeface="Courier New"/>
              </a:rPr>
              <a:t>📂  github.com/claudetomoh/agrilink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332"/>
                </a:solidFill>
                <a:latin typeface="Inter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2D1D"/>
                </a:solidFill>
                <a:latin typeface="Manrope"/>
              </a:rPr>
              <a:t>Deferred Backlog — Jira Sprint 4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3657600" cy="5029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4332"/>
                </a:solidFill>
                <a:latin typeface="Inter"/>
              </a:rPr>
              <a:t>Sprint 4 — Trust &amp;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240280"/>
            <a:ext cx="54864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Ghana Card OCR auto-verification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246120"/>
            <a:ext cx="54864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SMS alerts via Twilio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251960"/>
            <a:ext cx="54864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Email notification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5257800"/>
            <a:ext cx="54864" cy="3657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Dispute resolution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3657600" cy="50292"/>
          </a:xfrm>
          <a:prstGeom prst="rect">
            <a:avLst/>
          </a:prstGeom>
          <a:solidFill>
            <a:srgbClr val="9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5448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664208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926B00"/>
                </a:solidFill>
                <a:latin typeface="Inter"/>
              </a:rPr>
              <a:t>Sprint 5 —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2240280"/>
            <a:ext cx="54864" cy="365760"/>
          </a:xfrm>
          <a:prstGeom prst="rect">
            <a:avLst/>
          </a:prstGeom>
          <a:solidFill>
            <a:srgbClr val="9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Mobile Money (MoMo) payment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3246120"/>
            <a:ext cx="54864" cy="365760"/>
          </a:xfrm>
          <a:prstGeom prst="rect">
            <a:avLst/>
          </a:prstGeom>
          <a:solidFill>
            <a:srgbClr val="9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3246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Market price index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4251960"/>
            <a:ext cx="54864" cy="365760"/>
          </a:xfrm>
          <a:prstGeom prst="rect">
            <a:avLst/>
          </a:prstGeom>
          <a:solidFill>
            <a:srgbClr val="9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Bulk order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5257800"/>
            <a:ext cx="54864" cy="365760"/>
          </a:xfrm>
          <a:prstGeom prst="rect">
            <a:avLst/>
          </a:prstGeom>
          <a:solidFill>
            <a:srgbClr val="92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5257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Farmer cooperative 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1508760"/>
            <a:ext cx="3657600" cy="502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1312" y="155448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664208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Inter"/>
              </a:rPr>
              <a:t>Future —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4" y="2240280"/>
            <a:ext cx="54864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2240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PWA mobile wrapper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3246120"/>
            <a:ext cx="54864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2461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Multi-language: Twi / Ga / Hausa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4251960"/>
            <a:ext cx="54864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API layer for third-party integrations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5904" y="5257800"/>
            <a:ext cx="54864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2578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Inter"/>
              </a:rPr>
              <a:t>ML demand forecasting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274552" cy="347472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437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BAA"/>
                </a:solidFill>
                <a:latin typeface="Inter"/>
              </a:rPr>
              <a:t>All Sprint 4 items are tracked as 'To Do' tickets on the Jira sprint board — backlog-ready with acceptance criteria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012D1D"/>
              </a:gs>
              <a:gs pos="100000">
                <a:srgbClr val="1B433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54864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FFFFFF"/>
                </a:solidFill>
                <a:latin typeface="Manrope"/>
              </a:rPr>
              <a:t>🌿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645920"/>
            <a:ext cx="5422392" cy="384048"/>
          </a:xfrm>
          <a:prstGeom prst="rect">
            <a:avLst/>
          </a:prstGeom>
          <a:solidFill>
            <a:srgbClr val="0A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1691640"/>
            <a:ext cx="5422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C641"/>
                </a:solidFill>
                <a:latin typeface="Inter"/>
              </a:rPr>
              <a:t>AgriLink Ghana  ·  CS 415 Software Engineering  ·  Final Presentation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nrop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8877"/>
                </a:solidFill>
                <a:latin typeface="Inter"/>
              </a:rP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Stories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43/43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Sprints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2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Portals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4160520"/>
            <a:ext cx="1719072" cy="64008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41879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C641"/>
                </a:solidFill>
                <a:latin typeface="Inter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526280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Inter"/>
              </a:rPr>
              <a:t>Deployed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029200"/>
            <a:ext cx="7616952" cy="45720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02920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641"/>
                </a:solidFill>
                <a:latin typeface="Courier New"/>
              </a:rPr>
              <a:t>🌐  169.239.251.102:280/~tomoh.ikfingeh/agrilink/public/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5623560"/>
            <a:ext cx="7616952" cy="45720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623560"/>
            <a:ext cx="7616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641"/>
                </a:solidFill>
                <a:latin typeface="Courier New"/>
              </a:rPr>
              <a:t>📂  github.com/claudetomoh/agrilink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263640"/>
            <a:ext cx="7616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CA3AF"/>
                </a:solidFill>
                <a:latin typeface="Inter"/>
              </a:rPr>
              <a:t>Tomoh Ikfingeh  ·  Student  ·  CS 415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